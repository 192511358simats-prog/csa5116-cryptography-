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6"/>
    <p:sldId id="260" r:id="rId7"/>
    <p:sldId id="274" r:id="rId8"/>
    <p:sldId id="279" r:id="rId9"/>
    <p:sldId id="281" r:id="rId10"/>
    <p:sldId id="269" r:id="rId11"/>
    <p:sldId id="283" r:id="rId12"/>
    <p:sldId id="275" r:id="rId13"/>
    <p:sldId id="282" r:id="rId14"/>
    <p:sldId id="270" r:id="rId15"/>
    <p:sldId id="284" r:id="rId16"/>
    <p:sldId id="263" r:id="rId17"/>
    <p:sldId id="264" r:id="rId18"/>
    <p:sldId id="265" r:id="rId19"/>
    <p:sldId id="266" r:id="rId20"/>
    <p:sldId id="267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155" autoAdjust="0"/>
  </p:normalViewPr>
  <p:slideViewPr>
    <p:cSldViewPr snapToGrid="0" snapToObjects="1">
      <p:cViewPr varScale="1">
        <p:scale>
          <a:sx n="64" d="100"/>
          <a:sy n="64" d="100"/>
        </p:scale>
        <p:origin x="12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9AC735-08E3-4DC6-8702-892EE7A4B072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0E9FF69-569F-4B69-9849-6D46C10B2331}">
      <dgm:prSet phldrT="[Text]" custT="1"/>
      <dgm:spPr/>
      <dgm:t>
        <a:bodyPr/>
        <a:lstStyle/>
        <a:p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01 | Transaction Creation</a:t>
          </a:r>
        </a:p>
        <a:p>
          <a:r>
            <a:rPr lang="en-US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enters the cryptocurrency transaction details through the application.</a:t>
          </a:r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F62C66-F4FD-470E-9F0D-E711519475C5}" type="parTrans" cxnId="{CD994675-5BDA-4D9E-914D-A5AC69BC9336}">
      <dgm:prSet/>
      <dgm:spPr/>
      <dgm:t>
        <a:bodyPr/>
        <a:lstStyle/>
        <a:p>
          <a:endParaRPr lang="en-IN"/>
        </a:p>
      </dgm:t>
    </dgm:pt>
    <dgm:pt modelId="{F37C0496-95B2-4E02-B171-1B18F04C335F}" type="sibTrans" cxnId="{CD994675-5BDA-4D9E-914D-A5AC69BC9336}">
      <dgm:prSet/>
      <dgm:spPr/>
      <dgm:t>
        <a:bodyPr/>
        <a:lstStyle/>
        <a:p>
          <a:endParaRPr lang="en-IN" b="0"/>
        </a:p>
      </dgm:t>
    </dgm:pt>
    <dgm:pt modelId="{B8427850-986D-4739-AF8D-3E5878DDA68A}">
      <dgm:prSet phldrT="[Text]" custT="1"/>
      <dgm:spPr/>
      <dgm:t>
        <a:bodyPr/>
        <a:lstStyle/>
        <a:p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03|</a:t>
          </a:r>
          <a:r>
            <a: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Hash Generation</a:t>
          </a:r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 SHA-256 hash is generated to ensure transaction integrity.</a:t>
          </a:r>
          <a:endParaRPr lang="en-IN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DA4BD6-561C-45E8-AD10-98F49EFE3B22}" type="parTrans" cxnId="{B9E5AA6C-A0E2-48F0-A9EC-D7E00F4DD0D0}">
      <dgm:prSet/>
      <dgm:spPr/>
      <dgm:t>
        <a:bodyPr/>
        <a:lstStyle/>
        <a:p>
          <a:endParaRPr lang="en-IN"/>
        </a:p>
      </dgm:t>
    </dgm:pt>
    <dgm:pt modelId="{7B0EA66C-C5A6-49F0-9ED9-3730A6991521}" type="sibTrans" cxnId="{B9E5AA6C-A0E2-48F0-A9EC-D7E00F4DD0D0}">
      <dgm:prSet/>
      <dgm:spPr/>
      <dgm:t>
        <a:bodyPr/>
        <a:lstStyle/>
        <a:p>
          <a:endParaRPr lang="en-IN"/>
        </a:p>
      </dgm:t>
    </dgm:pt>
    <dgm:pt modelId="{976BD65C-1D2F-4316-A36B-543AA8C927D4}">
      <dgm:prSet phldrT="[Text]" custT="1"/>
      <dgm:spPr/>
      <dgm:t>
        <a:bodyPr/>
        <a:lstStyle/>
        <a:p>
          <a:endParaRPr lang="en-US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04| </a:t>
          </a:r>
          <a: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Smart Contract Processing</a:t>
          </a:r>
        </a:p>
        <a:p>
          <a:r>
            <a:rPr lang="en-US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The encrypted transaction and hash are submitted to a Solidity smart contract.</a:t>
          </a:r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2E7B1A-1213-430E-A725-95CE2B99296A}" type="parTrans" cxnId="{ADE5FD36-7EC8-47D3-AF58-5E4FB1D86A59}">
      <dgm:prSet/>
      <dgm:spPr/>
      <dgm:t>
        <a:bodyPr/>
        <a:lstStyle/>
        <a:p>
          <a:endParaRPr lang="en-IN"/>
        </a:p>
      </dgm:t>
    </dgm:pt>
    <dgm:pt modelId="{BD7FAAD0-202C-4205-B6F1-CC9B50E95EF1}" type="sibTrans" cxnId="{ADE5FD36-7EC8-47D3-AF58-5E4FB1D86A59}">
      <dgm:prSet/>
      <dgm:spPr/>
      <dgm:t>
        <a:bodyPr/>
        <a:lstStyle/>
        <a:p>
          <a:endParaRPr lang="en-IN"/>
        </a:p>
      </dgm:t>
    </dgm:pt>
    <dgm:pt modelId="{F30FF063-0FAD-4670-AFC5-AF1D8EC4B740}">
      <dgm:prSet phldrT="[Text]" custT="1"/>
      <dgm:spPr/>
      <dgm:t>
        <a:bodyPr/>
        <a:lstStyle/>
        <a:p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05| </a:t>
          </a:r>
          <a:r>
            <a:rPr lang="en-IN" sz="16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Storage &amp; Verification</a:t>
          </a:r>
        </a:p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The encrypted data is stored on the </a:t>
          </a:r>
          <a:r>
            <a:rPr lang="en-US" sz="16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and later verified using its hash.</a:t>
          </a:r>
          <a:endParaRPr lang="en-IN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961122-DF3A-4944-9790-03534E960D79}" type="parTrans" cxnId="{89B5573D-C09A-43DA-BBD1-D9C2842E2443}">
      <dgm:prSet/>
      <dgm:spPr/>
      <dgm:t>
        <a:bodyPr/>
        <a:lstStyle/>
        <a:p>
          <a:endParaRPr lang="en-IN"/>
        </a:p>
      </dgm:t>
    </dgm:pt>
    <dgm:pt modelId="{F4362B8D-6256-4F87-82BC-A8ABD72E4571}" type="sibTrans" cxnId="{89B5573D-C09A-43DA-BBD1-D9C2842E2443}">
      <dgm:prSet/>
      <dgm:spPr/>
      <dgm:t>
        <a:bodyPr/>
        <a:lstStyle/>
        <a:p>
          <a:endParaRPr lang="en-IN"/>
        </a:p>
      </dgm:t>
    </dgm:pt>
    <dgm:pt modelId="{6B11070A-1D40-4589-979E-9B175CB74A9A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06| </a:t>
          </a:r>
          <a:r>
            <a: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Authorization &amp; Decryption</a:t>
          </a:r>
        </a:p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Authorized users can access and decrypt the verified transaction data.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EEF641-00E1-4FF7-8E01-CCB95F58CBF1}" type="parTrans" cxnId="{DA0981F7-B084-4A7A-A98B-4CD6874BB99D}">
      <dgm:prSet/>
      <dgm:spPr/>
      <dgm:t>
        <a:bodyPr/>
        <a:lstStyle/>
        <a:p>
          <a:endParaRPr lang="en-IN"/>
        </a:p>
      </dgm:t>
    </dgm:pt>
    <dgm:pt modelId="{68E440D0-3473-422F-B6E2-79A7C8CEBACE}" type="sibTrans" cxnId="{DA0981F7-B084-4A7A-A98B-4CD6874BB99D}">
      <dgm:prSet/>
      <dgm:spPr/>
      <dgm:t>
        <a:bodyPr/>
        <a:lstStyle/>
        <a:p>
          <a:endParaRPr lang="en-IN"/>
        </a:p>
      </dgm:t>
    </dgm:pt>
    <dgm:pt modelId="{0BD153BE-6B48-42C2-BF2B-44A80C450D03}">
      <dgm:prSet phldrT="[Text]" custT="1"/>
      <dgm:spPr/>
      <dgm:t>
        <a:bodyPr/>
        <a:lstStyle/>
        <a:p>
          <a:pPr algn="ctr"/>
          <a:endParaRPr lang="en-IN" sz="1600" b="1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02 | Transaction Encryption</a:t>
          </a:r>
          <a:b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Sensitive transaction data is encrypted before being submitted to the </a:t>
          </a:r>
          <a:r>
            <a:rPr lang="en-US" sz="1600" b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US" sz="16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600" b="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endParaRPr lang="en-IN" sz="1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2B3569-C68C-47C9-B09E-63850EEA8804}" type="parTrans" cxnId="{C233C47C-85BA-45E0-91A9-6BE345C36444}">
      <dgm:prSet/>
      <dgm:spPr/>
      <dgm:t>
        <a:bodyPr/>
        <a:lstStyle/>
        <a:p>
          <a:endParaRPr lang="en-IN"/>
        </a:p>
      </dgm:t>
    </dgm:pt>
    <dgm:pt modelId="{CBA45BB2-DF57-4DB3-814E-157A1672639E}" type="sibTrans" cxnId="{C233C47C-85BA-45E0-91A9-6BE345C36444}">
      <dgm:prSet/>
      <dgm:spPr/>
      <dgm:t>
        <a:bodyPr/>
        <a:lstStyle/>
        <a:p>
          <a:endParaRPr lang="en-IN"/>
        </a:p>
      </dgm:t>
    </dgm:pt>
    <dgm:pt modelId="{10CD051C-B824-4778-9DEF-0C4D3AB6C446}" type="pres">
      <dgm:prSet presAssocID="{AB9AC735-08E3-4DC6-8702-892EE7A4B07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9BE6446-6CC0-48D6-8DCC-46FAC24BD326}" type="pres">
      <dgm:prSet presAssocID="{60E9FF69-569F-4B69-9849-6D46C10B233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2DB56A7-5C71-46B1-ADAA-BD093CCB01A9}" type="pres">
      <dgm:prSet presAssocID="{F37C0496-95B2-4E02-B171-1B18F04C335F}" presName="sibTrans" presStyleLbl="sibTrans2D1" presStyleIdx="0" presStyleCnt="5"/>
      <dgm:spPr/>
      <dgm:t>
        <a:bodyPr/>
        <a:lstStyle/>
        <a:p>
          <a:endParaRPr lang="en-IN"/>
        </a:p>
      </dgm:t>
    </dgm:pt>
    <dgm:pt modelId="{DD4DDCDA-930F-4CC3-AE14-CF90223D0B83}" type="pres">
      <dgm:prSet presAssocID="{F37C0496-95B2-4E02-B171-1B18F04C335F}" presName="connectorText" presStyleLbl="sibTrans2D1" presStyleIdx="0" presStyleCnt="5"/>
      <dgm:spPr/>
      <dgm:t>
        <a:bodyPr/>
        <a:lstStyle/>
        <a:p>
          <a:endParaRPr lang="en-IN"/>
        </a:p>
      </dgm:t>
    </dgm:pt>
    <dgm:pt modelId="{158E8B02-DC53-46B3-BB96-6E4820BC765B}" type="pres">
      <dgm:prSet presAssocID="{0BD153BE-6B48-42C2-BF2B-44A80C450D0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E37B837-413B-4E8B-9EB8-0A142B6B5C27}" type="pres">
      <dgm:prSet presAssocID="{CBA45BB2-DF57-4DB3-814E-157A1672639E}" presName="sibTrans" presStyleLbl="sibTrans2D1" presStyleIdx="1" presStyleCnt="5"/>
      <dgm:spPr/>
      <dgm:t>
        <a:bodyPr/>
        <a:lstStyle/>
        <a:p>
          <a:endParaRPr lang="en-IN"/>
        </a:p>
      </dgm:t>
    </dgm:pt>
    <dgm:pt modelId="{2A29D414-A698-4E37-A4D3-9A063A32EEA8}" type="pres">
      <dgm:prSet presAssocID="{CBA45BB2-DF57-4DB3-814E-157A1672639E}" presName="connectorText" presStyleLbl="sibTrans2D1" presStyleIdx="1" presStyleCnt="5"/>
      <dgm:spPr/>
      <dgm:t>
        <a:bodyPr/>
        <a:lstStyle/>
        <a:p>
          <a:endParaRPr lang="en-IN"/>
        </a:p>
      </dgm:t>
    </dgm:pt>
    <dgm:pt modelId="{72A75DB5-6D06-4AC5-8ED1-8F4C816181A9}" type="pres">
      <dgm:prSet presAssocID="{B8427850-986D-4739-AF8D-3E5878DDA68A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7B6BA0D-8A15-4CBD-903B-9C9F1A95B0F9}" type="pres">
      <dgm:prSet presAssocID="{7B0EA66C-C5A6-49F0-9ED9-3730A6991521}" presName="sibTrans" presStyleLbl="sibTrans2D1" presStyleIdx="2" presStyleCnt="5"/>
      <dgm:spPr/>
      <dgm:t>
        <a:bodyPr/>
        <a:lstStyle/>
        <a:p>
          <a:endParaRPr lang="en-IN"/>
        </a:p>
      </dgm:t>
    </dgm:pt>
    <dgm:pt modelId="{A3D313C9-6607-4009-9218-D671AD4F004C}" type="pres">
      <dgm:prSet presAssocID="{7B0EA66C-C5A6-49F0-9ED9-3730A6991521}" presName="connectorText" presStyleLbl="sibTrans2D1" presStyleIdx="2" presStyleCnt="5"/>
      <dgm:spPr/>
      <dgm:t>
        <a:bodyPr/>
        <a:lstStyle/>
        <a:p>
          <a:endParaRPr lang="en-IN"/>
        </a:p>
      </dgm:t>
    </dgm:pt>
    <dgm:pt modelId="{EE3FA030-A1D8-498A-B252-FE8866F0116C}" type="pres">
      <dgm:prSet presAssocID="{976BD65C-1D2F-4316-A36B-543AA8C927D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C40565B-E4FB-43BC-8747-B9CF6655EC38}" type="pres">
      <dgm:prSet presAssocID="{BD7FAAD0-202C-4205-B6F1-CC9B50E95EF1}" presName="sibTrans" presStyleLbl="sibTrans2D1" presStyleIdx="3" presStyleCnt="5"/>
      <dgm:spPr/>
      <dgm:t>
        <a:bodyPr/>
        <a:lstStyle/>
        <a:p>
          <a:endParaRPr lang="en-IN"/>
        </a:p>
      </dgm:t>
    </dgm:pt>
    <dgm:pt modelId="{F3FCFF52-33A2-44DE-ACC3-19B36E5FFAA7}" type="pres">
      <dgm:prSet presAssocID="{BD7FAAD0-202C-4205-B6F1-CC9B50E95EF1}" presName="connectorText" presStyleLbl="sibTrans2D1" presStyleIdx="3" presStyleCnt="5"/>
      <dgm:spPr/>
      <dgm:t>
        <a:bodyPr/>
        <a:lstStyle/>
        <a:p>
          <a:endParaRPr lang="en-IN"/>
        </a:p>
      </dgm:t>
    </dgm:pt>
    <dgm:pt modelId="{B9D9535E-94FE-44CF-B5DA-3CBE378E832E}" type="pres">
      <dgm:prSet presAssocID="{F30FF063-0FAD-4670-AFC5-AF1D8EC4B740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263DA9-0401-43AF-A54A-62031D29F579}" type="pres">
      <dgm:prSet presAssocID="{F4362B8D-6256-4F87-82BC-A8ABD72E4571}" presName="sibTrans" presStyleLbl="sibTrans2D1" presStyleIdx="4" presStyleCnt="5"/>
      <dgm:spPr/>
      <dgm:t>
        <a:bodyPr/>
        <a:lstStyle/>
        <a:p>
          <a:endParaRPr lang="en-IN"/>
        </a:p>
      </dgm:t>
    </dgm:pt>
    <dgm:pt modelId="{52EB6DE9-1BD1-42E5-A519-6FAA09F77616}" type="pres">
      <dgm:prSet presAssocID="{F4362B8D-6256-4F87-82BC-A8ABD72E4571}" presName="connectorText" presStyleLbl="sibTrans2D1" presStyleIdx="4" presStyleCnt="5"/>
      <dgm:spPr/>
      <dgm:t>
        <a:bodyPr/>
        <a:lstStyle/>
        <a:p>
          <a:endParaRPr lang="en-IN"/>
        </a:p>
      </dgm:t>
    </dgm:pt>
    <dgm:pt modelId="{3F7F0178-DC3D-4E7E-B0B2-FD50757F9695}" type="pres">
      <dgm:prSet presAssocID="{6B11070A-1D40-4589-979E-9B175CB74A9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DB62D40-9192-46F6-B868-39718F4E41D8}" type="presOf" srcId="{F4362B8D-6256-4F87-82BC-A8ABD72E4571}" destId="{52EB6DE9-1BD1-42E5-A519-6FAA09F77616}" srcOrd="1" destOrd="0" presId="urn:microsoft.com/office/officeart/2005/8/layout/process5"/>
    <dgm:cxn modelId="{DA0981F7-B084-4A7A-A98B-4CD6874BB99D}" srcId="{AB9AC735-08E3-4DC6-8702-892EE7A4B072}" destId="{6B11070A-1D40-4589-979E-9B175CB74A9A}" srcOrd="5" destOrd="0" parTransId="{55EEF641-00E1-4FF7-8E01-CCB95F58CBF1}" sibTransId="{68E440D0-3473-422F-B6E2-79A7C8CEBACE}"/>
    <dgm:cxn modelId="{D73A0E37-C729-4032-B40C-9A3707200B7E}" type="presOf" srcId="{976BD65C-1D2F-4316-A36B-543AA8C927D4}" destId="{EE3FA030-A1D8-498A-B252-FE8866F0116C}" srcOrd="0" destOrd="0" presId="urn:microsoft.com/office/officeart/2005/8/layout/process5"/>
    <dgm:cxn modelId="{EDBE54E8-1AF1-4720-A953-34D71A1F5C61}" type="presOf" srcId="{F37C0496-95B2-4E02-B171-1B18F04C335F}" destId="{52DB56A7-5C71-46B1-ADAA-BD093CCB01A9}" srcOrd="0" destOrd="0" presId="urn:microsoft.com/office/officeart/2005/8/layout/process5"/>
    <dgm:cxn modelId="{ED40E453-2618-4518-A218-5F534FDFF81B}" type="presOf" srcId="{CBA45BB2-DF57-4DB3-814E-157A1672639E}" destId="{2A29D414-A698-4E37-A4D3-9A063A32EEA8}" srcOrd="1" destOrd="0" presId="urn:microsoft.com/office/officeart/2005/8/layout/process5"/>
    <dgm:cxn modelId="{6F6AA2EE-4E62-4586-B311-822F274B0E59}" type="presOf" srcId="{F37C0496-95B2-4E02-B171-1B18F04C335F}" destId="{DD4DDCDA-930F-4CC3-AE14-CF90223D0B83}" srcOrd="1" destOrd="0" presId="urn:microsoft.com/office/officeart/2005/8/layout/process5"/>
    <dgm:cxn modelId="{A8F4ED23-3BDB-4D87-B964-639BF2079670}" type="presOf" srcId="{7B0EA66C-C5A6-49F0-9ED9-3730A6991521}" destId="{A3D313C9-6607-4009-9218-D671AD4F004C}" srcOrd="1" destOrd="0" presId="urn:microsoft.com/office/officeart/2005/8/layout/process5"/>
    <dgm:cxn modelId="{07BED5CF-B10D-4A14-8937-70A709B72E65}" type="presOf" srcId="{60E9FF69-569F-4B69-9849-6D46C10B2331}" destId="{09BE6446-6CC0-48D6-8DCC-46FAC24BD326}" srcOrd="0" destOrd="0" presId="urn:microsoft.com/office/officeart/2005/8/layout/process5"/>
    <dgm:cxn modelId="{C233C47C-85BA-45E0-91A9-6BE345C36444}" srcId="{AB9AC735-08E3-4DC6-8702-892EE7A4B072}" destId="{0BD153BE-6B48-42C2-BF2B-44A80C450D03}" srcOrd="1" destOrd="0" parTransId="{5B2B3569-C68C-47C9-B09E-63850EEA8804}" sibTransId="{CBA45BB2-DF57-4DB3-814E-157A1672639E}"/>
    <dgm:cxn modelId="{4CC6178D-D201-4882-B0C9-7AC563B0602B}" type="presOf" srcId="{BD7FAAD0-202C-4205-B6F1-CC9B50E95EF1}" destId="{F3FCFF52-33A2-44DE-ACC3-19B36E5FFAA7}" srcOrd="1" destOrd="0" presId="urn:microsoft.com/office/officeart/2005/8/layout/process5"/>
    <dgm:cxn modelId="{B9E5AA6C-A0E2-48F0-A9EC-D7E00F4DD0D0}" srcId="{AB9AC735-08E3-4DC6-8702-892EE7A4B072}" destId="{B8427850-986D-4739-AF8D-3E5878DDA68A}" srcOrd="2" destOrd="0" parTransId="{E8DA4BD6-561C-45E8-AD10-98F49EFE3B22}" sibTransId="{7B0EA66C-C5A6-49F0-9ED9-3730A6991521}"/>
    <dgm:cxn modelId="{D4F84229-9CED-49E6-B826-0498585F8D49}" type="presOf" srcId="{B8427850-986D-4739-AF8D-3E5878DDA68A}" destId="{72A75DB5-6D06-4AC5-8ED1-8F4C816181A9}" srcOrd="0" destOrd="0" presId="urn:microsoft.com/office/officeart/2005/8/layout/process5"/>
    <dgm:cxn modelId="{0F489CD2-D754-4A18-8E1C-283D7D6559C2}" type="presOf" srcId="{6B11070A-1D40-4589-979E-9B175CB74A9A}" destId="{3F7F0178-DC3D-4E7E-B0B2-FD50757F9695}" srcOrd="0" destOrd="0" presId="urn:microsoft.com/office/officeart/2005/8/layout/process5"/>
    <dgm:cxn modelId="{CD994675-5BDA-4D9E-914D-A5AC69BC9336}" srcId="{AB9AC735-08E3-4DC6-8702-892EE7A4B072}" destId="{60E9FF69-569F-4B69-9849-6D46C10B2331}" srcOrd="0" destOrd="0" parTransId="{3CF62C66-F4FD-470E-9F0D-E711519475C5}" sibTransId="{F37C0496-95B2-4E02-B171-1B18F04C335F}"/>
    <dgm:cxn modelId="{ADE5FD36-7EC8-47D3-AF58-5E4FB1D86A59}" srcId="{AB9AC735-08E3-4DC6-8702-892EE7A4B072}" destId="{976BD65C-1D2F-4316-A36B-543AA8C927D4}" srcOrd="3" destOrd="0" parTransId="{872E7B1A-1213-430E-A725-95CE2B99296A}" sibTransId="{BD7FAAD0-202C-4205-B6F1-CC9B50E95EF1}"/>
    <dgm:cxn modelId="{907ABC26-E362-453B-97AD-C2706911CED0}" type="presOf" srcId="{BD7FAAD0-202C-4205-B6F1-CC9B50E95EF1}" destId="{2C40565B-E4FB-43BC-8747-B9CF6655EC38}" srcOrd="0" destOrd="0" presId="urn:microsoft.com/office/officeart/2005/8/layout/process5"/>
    <dgm:cxn modelId="{89B5573D-C09A-43DA-BBD1-D9C2842E2443}" srcId="{AB9AC735-08E3-4DC6-8702-892EE7A4B072}" destId="{F30FF063-0FAD-4670-AFC5-AF1D8EC4B740}" srcOrd="4" destOrd="0" parTransId="{C7961122-DF3A-4944-9790-03534E960D79}" sibTransId="{F4362B8D-6256-4F87-82BC-A8ABD72E4571}"/>
    <dgm:cxn modelId="{67CA0669-6318-43AD-B3B3-BFAB1555EBF0}" type="presOf" srcId="{CBA45BB2-DF57-4DB3-814E-157A1672639E}" destId="{FE37B837-413B-4E8B-9EB8-0A142B6B5C27}" srcOrd="0" destOrd="0" presId="urn:microsoft.com/office/officeart/2005/8/layout/process5"/>
    <dgm:cxn modelId="{81BB4317-D212-4499-AE19-EA5FFEAD06FA}" type="presOf" srcId="{F4362B8D-6256-4F87-82BC-A8ABD72E4571}" destId="{A5263DA9-0401-43AF-A54A-62031D29F579}" srcOrd="0" destOrd="0" presId="urn:microsoft.com/office/officeart/2005/8/layout/process5"/>
    <dgm:cxn modelId="{E1DCD6DE-5141-46F6-BC1E-3DFE724CC85D}" type="presOf" srcId="{7B0EA66C-C5A6-49F0-9ED9-3730A6991521}" destId="{E7B6BA0D-8A15-4CBD-903B-9C9F1A95B0F9}" srcOrd="0" destOrd="0" presId="urn:microsoft.com/office/officeart/2005/8/layout/process5"/>
    <dgm:cxn modelId="{0016D2F1-F3A5-4793-8DA5-765610A03888}" type="presOf" srcId="{0BD153BE-6B48-42C2-BF2B-44A80C450D03}" destId="{158E8B02-DC53-46B3-BB96-6E4820BC765B}" srcOrd="0" destOrd="0" presId="urn:microsoft.com/office/officeart/2005/8/layout/process5"/>
    <dgm:cxn modelId="{197DE748-C077-49A4-AFB5-E063511DF1F6}" type="presOf" srcId="{F30FF063-0FAD-4670-AFC5-AF1D8EC4B740}" destId="{B9D9535E-94FE-44CF-B5DA-3CBE378E832E}" srcOrd="0" destOrd="0" presId="urn:microsoft.com/office/officeart/2005/8/layout/process5"/>
    <dgm:cxn modelId="{48C8A91A-9561-41E5-860F-C73D8F21ECBB}" type="presOf" srcId="{AB9AC735-08E3-4DC6-8702-892EE7A4B072}" destId="{10CD051C-B824-4778-9DEF-0C4D3AB6C446}" srcOrd="0" destOrd="0" presId="urn:microsoft.com/office/officeart/2005/8/layout/process5"/>
    <dgm:cxn modelId="{F6EB319E-1D9F-4A07-80F8-A96EA4EB31F4}" type="presParOf" srcId="{10CD051C-B824-4778-9DEF-0C4D3AB6C446}" destId="{09BE6446-6CC0-48D6-8DCC-46FAC24BD326}" srcOrd="0" destOrd="0" presId="urn:microsoft.com/office/officeart/2005/8/layout/process5"/>
    <dgm:cxn modelId="{9FDA65E2-B990-4668-909C-54C1006F5C1A}" type="presParOf" srcId="{10CD051C-B824-4778-9DEF-0C4D3AB6C446}" destId="{52DB56A7-5C71-46B1-ADAA-BD093CCB01A9}" srcOrd="1" destOrd="0" presId="urn:microsoft.com/office/officeart/2005/8/layout/process5"/>
    <dgm:cxn modelId="{FE8576BA-FCDA-4EFB-B39F-B62AC30B5218}" type="presParOf" srcId="{52DB56A7-5C71-46B1-ADAA-BD093CCB01A9}" destId="{DD4DDCDA-930F-4CC3-AE14-CF90223D0B83}" srcOrd="0" destOrd="0" presId="urn:microsoft.com/office/officeart/2005/8/layout/process5"/>
    <dgm:cxn modelId="{28228668-63CF-4690-8F12-8CD76CAC0AA2}" type="presParOf" srcId="{10CD051C-B824-4778-9DEF-0C4D3AB6C446}" destId="{158E8B02-DC53-46B3-BB96-6E4820BC765B}" srcOrd="2" destOrd="0" presId="urn:microsoft.com/office/officeart/2005/8/layout/process5"/>
    <dgm:cxn modelId="{6CCEBE8B-E380-47BE-91A3-3E99C5DE4464}" type="presParOf" srcId="{10CD051C-B824-4778-9DEF-0C4D3AB6C446}" destId="{FE37B837-413B-4E8B-9EB8-0A142B6B5C27}" srcOrd="3" destOrd="0" presId="urn:microsoft.com/office/officeart/2005/8/layout/process5"/>
    <dgm:cxn modelId="{5DD1CABB-13C0-4F68-81EA-FA39DFDD8CDD}" type="presParOf" srcId="{FE37B837-413B-4E8B-9EB8-0A142B6B5C27}" destId="{2A29D414-A698-4E37-A4D3-9A063A32EEA8}" srcOrd="0" destOrd="0" presId="urn:microsoft.com/office/officeart/2005/8/layout/process5"/>
    <dgm:cxn modelId="{81D412E3-68E7-4840-8C81-0DFC20856FAD}" type="presParOf" srcId="{10CD051C-B824-4778-9DEF-0C4D3AB6C446}" destId="{72A75DB5-6D06-4AC5-8ED1-8F4C816181A9}" srcOrd="4" destOrd="0" presId="urn:microsoft.com/office/officeart/2005/8/layout/process5"/>
    <dgm:cxn modelId="{E09602C7-AC20-47CC-9ECB-6CFC4F9C4A75}" type="presParOf" srcId="{10CD051C-B824-4778-9DEF-0C4D3AB6C446}" destId="{E7B6BA0D-8A15-4CBD-903B-9C9F1A95B0F9}" srcOrd="5" destOrd="0" presId="urn:microsoft.com/office/officeart/2005/8/layout/process5"/>
    <dgm:cxn modelId="{DEA742F1-97BF-4501-8E77-8EDC41097349}" type="presParOf" srcId="{E7B6BA0D-8A15-4CBD-903B-9C9F1A95B0F9}" destId="{A3D313C9-6607-4009-9218-D671AD4F004C}" srcOrd="0" destOrd="0" presId="urn:microsoft.com/office/officeart/2005/8/layout/process5"/>
    <dgm:cxn modelId="{44A6AE44-55FF-4092-A20B-89914865A36A}" type="presParOf" srcId="{10CD051C-B824-4778-9DEF-0C4D3AB6C446}" destId="{EE3FA030-A1D8-498A-B252-FE8866F0116C}" srcOrd="6" destOrd="0" presId="urn:microsoft.com/office/officeart/2005/8/layout/process5"/>
    <dgm:cxn modelId="{D7DED988-00D0-452C-A704-A5B402028D38}" type="presParOf" srcId="{10CD051C-B824-4778-9DEF-0C4D3AB6C446}" destId="{2C40565B-E4FB-43BC-8747-B9CF6655EC38}" srcOrd="7" destOrd="0" presId="urn:microsoft.com/office/officeart/2005/8/layout/process5"/>
    <dgm:cxn modelId="{FCA70D03-C9FA-4A5E-8454-82E50B16655A}" type="presParOf" srcId="{2C40565B-E4FB-43BC-8747-B9CF6655EC38}" destId="{F3FCFF52-33A2-44DE-ACC3-19B36E5FFAA7}" srcOrd="0" destOrd="0" presId="urn:microsoft.com/office/officeart/2005/8/layout/process5"/>
    <dgm:cxn modelId="{DDAC6DA7-40DA-4463-BC41-58B662154379}" type="presParOf" srcId="{10CD051C-B824-4778-9DEF-0C4D3AB6C446}" destId="{B9D9535E-94FE-44CF-B5DA-3CBE378E832E}" srcOrd="8" destOrd="0" presId="urn:microsoft.com/office/officeart/2005/8/layout/process5"/>
    <dgm:cxn modelId="{CC676AFE-72A2-4E40-BBF1-296C5122B80A}" type="presParOf" srcId="{10CD051C-B824-4778-9DEF-0C4D3AB6C446}" destId="{A5263DA9-0401-43AF-A54A-62031D29F579}" srcOrd="9" destOrd="0" presId="urn:microsoft.com/office/officeart/2005/8/layout/process5"/>
    <dgm:cxn modelId="{10FFB759-FF10-4E04-A440-5658379FEFB8}" type="presParOf" srcId="{A5263DA9-0401-43AF-A54A-62031D29F579}" destId="{52EB6DE9-1BD1-42E5-A519-6FAA09F77616}" srcOrd="0" destOrd="0" presId="urn:microsoft.com/office/officeart/2005/8/layout/process5"/>
    <dgm:cxn modelId="{1FDD2E7B-FB47-4CE5-8A98-032A4604A576}" type="presParOf" srcId="{10CD051C-B824-4778-9DEF-0C4D3AB6C446}" destId="{3F7F0178-DC3D-4E7E-B0B2-FD50757F9695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E6446-6CC0-48D6-8DCC-46FAC24BD326}">
      <dsp:nvSpPr>
        <dsp:cNvPr id="0" name=""/>
        <dsp:cNvSpPr/>
      </dsp:nvSpPr>
      <dsp:spPr>
        <a:xfrm>
          <a:off x="65004" y="1706"/>
          <a:ext cx="2619872" cy="15719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01 | Transaction Creation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User enters the cryptocurrency transaction details through the application.</a:t>
          </a: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044" y="47746"/>
        <a:ext cx="2527792" cy="1479843"/>
      </dsp:txXfrm>
    </dsp:sp>
    <dsp:sp modelId="{52DB56A7-5C71-46B1-ADAA-BD093CCB01A9}">
      <dsp:nvSpPr>
        <dsp:cNvPr id="0" name=""/>
        <dsp:cNvSpPr/>
      </dsp:nvSpPr>
      <dsp:spPr>
        <a:xfrm>
          <a:off x="2915426" y="462804"/>
          <a:ext cx="555413" cy="6497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700" b="0" kern="1200"/>
        </a:p>
      </dsp:txBody>
      <dsp:txXfrm>
        <a:off x="2915426" y="592750"/>
        <a:ext cx="388789" cy="389836"/>
      </dsp:txXfrm>
    </dsp:sp>
    <dsp:sp modelId="{158E8B02-DC53-46B3-BB96-6E4820BC765B}">
      <dsp:nvSpPr>
        <dsp:cNvPr id="0" name=""/>
        <dsp:cNvSpPr/>
      </dsp:nvSpPr>
      <dsp:spPr>
        <a:xfrm>
          <a:off x="3732826" y="1706"/>
          <a:ext cx="2619872" cy="157192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1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02 | Transaction Encryption</a:t>
          </a:r>
          <a:b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b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Sensitive transaction data is encrypted before being submitted to the </a:t>
          </a:r>
          <a:r>
            <a:rPr lang="en-US" sz="1600" b="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US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78866" y="47746"/>
        <a:ext cx="2527792" cy="1479843"/>
      </dsp:txXfrm>
    </dsp:sp>
    <dsp:sp modelId="{FE37B837-413B-4E8B-9EB8-0A142B6B5C27}">
      <dsp:nvSpPr>
        <dsp:cNvPr id="0" name=""/>
        <dsp:cNvSpPr/>
      </dsp:nvSpPr>
      <dsp:spPr>
        <a:xfrm>
          <a:off x="6583248" y="462804"/>
          <a:ext cx="555413" cy="6497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700" kern="1200"/>
        </a:p>
      </dsp:txBody>
      <dsp:txXfrm>
        <a:off x="6583248" y="592750"/>
        <a:ext cx="388789" cy="389836"/>
      </dsp:txXfrm>
    </dsp:sp>
    <dsp:sp modelId="{72A75DB5-6D06-4AC5-8ED1-8F4C816181A9}">
      <dsp:nvSpPr>
        <dsp:cNvPr id="0" name=""/>
        <dsp:cNvSpPr/>
      </dsp:nvSpPr>
      <dsp:spPr>
        <a:xfrm>
          <a:off x="7400648" y="1706"/>
          <a:ext cx="2619872" cy="1571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03|</a:t>
          </a:r>
          <a:r>
            <a:rPr lang="en-IN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Hash Generation</a:t>
          </a: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 SHA-256 hash is generated to ensure transaction integrity.</a:t>
          </a:r>
          <a:endParaRPr lang="en-IN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6688" y="47746"/>
        <a:ext cx="2527792" cy="1479843"/>
      </dsp:txXfrm>
    </dsp:sp>
    <dsp:sp modelId="{E7B6BA0D-8A15-4CBD-903B-9C9F1A95B0F9}">
      <dsp:nvSpPr>
        <dsp:cNvPr id="0" name=""/>
        <dsp:cNvSpPr/>
      </dsp:nvSpPr>
      <dsp:spPr>
        <a:xfrm rot="5400000">
          <a:off x="8432878" y="1757021"/>
          <a:ext cx="555413" cy="6497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700" kern="1200"/>
        </a:p>
      </dsp:txBody>
      <dsp:txXfrm rot="-5400000">
        <a:off x="8515667" y="1804178"/>
        <a:ext cx="389836" cy="388789"/>
      </dsp:txXfrm>
    </dsp:sp>
    <dsp:sp modelId="{EE3FA030-A1D8-498A-B252-FE8866F0116C}">
      <dsp:nvSpPr>
        <dsp:cNvPr id="0" name=""/>
        <dsp:cNvSpPr/>
      </dsp:nvSpPr>
      <dsp:spPr>
        <a:xfrm>
          <a:off x="7400648" y="2621579"/>
          <a:ext cx="2619872" cy="157192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04| </a:t>
          </a:r>
          <a:r>
            <a:rPr lang="en-IN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Smart Contract Processing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The encrypted transaction and hash are submitted to a Solidity smart contract.</a:t>
          </a: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b="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6688" y="2667619"/>
        <a:ext cx="2527792" cy="1479843"/>
      </dsp:txXfrm>
    </dsp:sp>
    <dsp:sp modelId="{2C40565B-E4FB-43BC-8747-B9CF6655EC38}">
      <dsp:nvSpPr>
        <dsp:cNvPr id="0" name=""/>
        <dsp:cNvSpPr/>
      </dsp:nvSpPr>
      <dsp:spPr>
        <a:xfrm rot="10800000">
          <a:off x="6614686" y="3082677"/>
          <a:ext cx="555413" cy="6497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700" kern="1200"/>
        </a:p>
      </dsp:txBody>
      <dsp:txXfrm rot="10800000">
        <a:off x="6781310" y="3212623"/>
        <a:ext cx="388789" cy="389836"/>
      </dsp:txXfrm>
    </dsp:sp>
    <dsp:sp modelId="{B9D9535E-94FE-44CF-B5DA-3CBE378E832E}">
      <dsp:nvSpPr>
        <dsp:cNvPr id="0" name=""/>
        <dsp:cNvSpPr/>
      </dsp:nvSpPr>
      <dsp:spPr>
        <a:xfrm>
          <a:off x="3732826" y="2621579"/>
          <a:ext cx="2619872" cy="157192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05| </a:t>
          </a:r>
          <a:r>
            <a:rPr lang="en-IN" sz="16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IN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Storage &amp; Verification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The encrypted data is stored on the </a:t>
          </a:r>
          <a:r>
            <a:rPr lang="en-US" sz="16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blockchain</a:t>
          </a: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and later verified using its hash.</a:t>
          </a:r>
          <a:endParaRPr lang="en-IN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78866" y="2667619"/>
        <a:ext cx="2527792" cy="1479843"/>
      </dsp:txXfrm>
    </dsp:sp>
    <dsp:sp modelId="{A5263DA9-0401-43AF-A54A-62031D29F579}">
      <dsp:nvSpPr>
        <dsp:cNvPr id="0" name=""/>
        <dsp:cNvSpPr/>
      </dsp:nvSpPr>
      <dsp:spPr>
        <a:xfrm rot="10800000">
          <a:off x="2946864" y="3082677"/>
          <a:ext cx="555413" cy="6497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700" kern="1200"/>
        </a:p>
      </dsp:txBody>
      <dsp:txXfrm rot="10800000">
        <a:off x="3113488" y="3212623"/>
        <a:ext cx="388789" cy="389836"/>
      </dsp:txXfrm>
    </dsp:sp>
    <dsp:sp modelId="{3F7F0178-DC3D-4E7E-B0B2-FD50757F9695}">
      <dsp:nvSpPr>
        <dsp:cNvPr id="0" name=""/>
        <dsp:cNvSpPr/>
      </dsp:nvSpPr>
      <dsp:spPr>
        <a:xfrm>
          <a:off x="65004" y="2621579"/>
          <a:ext cx="2619872" cy="15719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06| </a:t>
          </a:r>
          <a:r>
            <a:rPr lang="en-IN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Authorization &amp; Decryption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Authorized users can access and decrypt the verified transaction data.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044" y="2667619"/>
        <a:ext cx="2527792" cy="147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5A25F-F770-4249-88BC-1480B8E24517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70450-80CD-411B-A582-2A2A0B0CE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56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Transaction Encryption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70450-80CD-411B-A582-2A2A0B0CE16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042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70450-80CD-411B-A582-2A2A0B0CE16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123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70450-80CD-411B-A582-2A2A0B0CE16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01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470450-80CD-411B-A582-2A2A0B0CE1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045" y="2338226"/>
            <a:ext cx="1107209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Cryptocurrency Transactions using Encrypted Smart Contracts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6084B5A-3EB3-FC2A-A0E2-8FB16CC30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-39757"/>
            <a:ext cx="11998037" cy="133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8443" y="4852735"/>
            <a:ext cx="31606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BY;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KANMANI L(192511414)</a:t>
            </a:r>
          </a:p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VARSHA 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S(192511358</a:t>
            </a:r>
            <a:r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4704" y="4852735"/>
            <a:ext cx="3896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DR.E.ANBALAGAN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6305" y="3776495"/>
            <a:ext cx="8338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CSA5116-CRYPTOGRAPHY AND ITS IMPACT ON NETWORK SECURITY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91" y="1409123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576" y="2571085"/>
            <a:ext cx="10972800" cy="452596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enables decentralized digital transactions through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expose sensitive transaction details, creating privacy concerns.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protects transaction data before it is stored on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smart contracts help process transactions without exposing sensitive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hashing ensures transaction integrity and detects tampering.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cryptography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confidential, secure, and verifiable cryptocurrency transactions.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8BD370D-40B0-E456-F128-592B349C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81" y="56661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27" y="1488836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395" y="2520472"/>
            <a:ext cx="10117464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cryptocurrency transaction data through encryption before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manage cryptographic keys and restrict access to authorized users.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transaction integrity using SHA-256 hashing.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process and store encrypted transactions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smart contracts.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authorized users to verify and securely decrypt their transaction data.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EC20FB1-6749-CFBE-059A-E208D368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" y="250586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1694276"/>
            <a:ext cx="10873047" cy="825717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EC20FB1-6749-CFBE-059A-E208D368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" y="210830"/>
            <a:ext cx="11998037" cy="13335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279"/>
              </p:ext>
            </p:extLst>
          </p:nvPr>
        </p:nvGraphicFramePr>
        <p:xfrm>
          <a:off x="606287" y="2355573"/>
          <a:ext cx="10774017" cy="429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502"/>
                <a:gridCol w="2979528"/>
                <a:gridCol w="2319633"/>
                <a:gridCol w="2369626"/>
                <a:gridCol w="1719728"/>
              </a:tblGrid>
              <a:tr h="476158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2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Focus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Addressed by Our Project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99745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and verifiable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Cryptographic protection with smart-contract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vehicular energy trading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privacy-preserving transactions to cryptocurrency</a:t>
                      </a:r>
                    </a:p>
                  </a:txBody>
                  <a:tcPr anchor="ctr"/>
                </a:tc>
              </a:tr>
              <a:tr h="699745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smart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Cryptographic protocols for secure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cryptographic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practical encryption-based approach</a:t>
                      </a:r>
                    </a:p>
                  </a:txBody>
                  <a:tcPr anchor="ctr"/>
                </a:tc>
              </a:tr>
              <a:tr h="699745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Privacy-preserving blockchain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Zero-knowledge proofs for private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 proof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encryption and hashing as a practical alternative</a:t>
                      </a:r>
                    </a:p>
                  </a:txBody>
                  <a:tcPr anchor="ctr"/>
                </a:tc>
              </a:tr>
              <a:tr h="857085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Accountable privacy-preserving blockchain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and smart contracts for decentralized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intelligent transportation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privacy mechanisms to cryptocurrency transactions</a:t>
                      </a:r>
                    </a:p>
                  </a:txBody>
                  <a:tcPr anchor="ctr"/>
                </a:tc>
              </a:tr>
              <a:tr h="861226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transaction security and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 smart contracts for secure transaction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healthcare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Adapts encrypted smart-contract processing to cryptocurrency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EC20FB1-6749-CFBE-059A-E208D368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" y="210830"/>
            <a:ext cx="11998037" cy="133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65922" y="1329892"/>
            <a:ext cx="10939568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5315"/>
          <a:stretch/>
        </p:blipFill>
        <p:spPr>
          <a:xfrm>
            <a:off x="738306" y="2260925"/>
            <a:ext cx="10662979" cy="425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6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413" y="1130614"/>
            <a:ext cx="10972800" cy="1143000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3B79F62-87BF-AAE9-8A72-1D138E5AA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231160"/>
              </p:ext>
            </p:extLst>
          </p:nvPr>
        </p:nvGraphicFramePr>
        <p:xfrm>
          <a:off x="1076327" y="2293492"/>
          <a:ext cx="10085526" cy="4195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10C32B-34A0-60E4-62A2-94C373B9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91" y="1817111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830C54-5329-DD9C-4DEE-1735171B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622" y="3095187"/>
            <a:ext cx="9643266" cy="31657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 Secure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Encryption &amp; Key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b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2:Blockchain-Based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Transaction Processing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11D9FA8-E4BB-7047-ED48-8C2C99D85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" y="192521"/>
            <a:ext cx="119919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2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10C32B-34A0-60E4-62A2-94C373B9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463154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1:Secure Transaction Encryption &amp; Key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830C54-5329-DD9C-4DEE-1735171B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3354221"/>
            <a:ext cx="8907771" cy="31657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creates a wallet using a public–private key pair.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transaction details are entered through the application.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transaction data is encrypted before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keys are securely generated and managed for authorized access.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SHA-256 hash is generated to support transaction integrity verification.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encrypted transaction data is forwarded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layer.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ensures transaction confidentiality and secure key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11D9FA8-E4BB-7047-ED48-8C2C99D8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152764"/>
            <a:ext cx="119919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7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11D9FA8-E4BB-7047-ED48-8C2C99D85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" y="113007"/>
            <a:ext cx="11991975" cy="133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27" y="2440126"/>
            <a:ext cx="11501744" cy="302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2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023" y="1138981"/>
            <a:ext cx="10195945" cy="1259872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IMPLEMENTATION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0AFFC75-1B13-15B8-1410-C1F7D6AC7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" y="-39756"/>
            <a:ext cx="11998037" cy="133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14" y="2114849"/>
            <a:ext cx="8782501" cy="447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11D9FA8-E4BB-7047-ED48-8C2C99D8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113007"/>
            <a:ext cx="11991975" cy="1333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368" y="1809784"/>
            <a:ext cx="8213262" cy="479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5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041BAC-94EB-7753-F3F5-13763346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4886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2:Blockchain-Based Encrypted Transaction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E555FC-3EB0-D016-67A4-EFFE6472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2817089"/>
            <a:ext cx="10952921" cy="34942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transaction data is submitted to a Solidity smart contract, which manages and records the encrypted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SHA-256 hash are stored on the Ganache/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and tamper-resistant storage.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transaction data is verified using SHA-256 hash comparison to ensure integrity.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authorization is validated before access to transaction data is provided.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can securely decrypt and retrieve the original transaction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storage, integrity verification, and controlled access to encrypted transactions.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5CFD2E3-D507-6D49-6F32-0B1DF8FF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56287"/>
            <a:ext cx="119919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1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0AFFC75-1B13-15B8-1410-C1F7D6AC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-79513"/>
            <a:ext cx="11998037" cy="133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23" y="2191047"/>
            <a:ext cx="11495878" cy="36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516" y="1107068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IMPLEMENTATION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3D4CD71-26D6-5E00-C2DA-AAC4E7BC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038" y="2143413"/>
            <a:ext cx="8877756" cy="450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1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0AFFC75-1B13-15B8-1410-C1F7D6AC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-79513"/>
            <a:ext cx="11998037" cy="133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" y="2072933"/>
            <a:ext cx="5962933" cy="39799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263" y="2072934"/>
            <a:ext cx="5550963" cy="397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5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452" y="1261269"/>
            <a:ext cx="10972800" cy="1143000"/>
          </a:xfrm>
        </p:spPr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339" y="2147473"/>
            <a:ext cx="10614991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is encrypted before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storage, protecting sensitive information from unauthorized exposure.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contract successfully manages encrypted transaction records on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 verification helps detect unauthorized modification of stored transaction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controls restrict transaction access to legitimate users.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can retrieve and decrypt their verified transaction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confidentiality, integrity, and secure access for cryptocurrency transactions.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A9D9FF2-C687-767D-F44C-5287D429A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17638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60638"/>
            <a:ext cx="1162481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generation and management of cryptographic keys is essential to prevent unauthorized access.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decryption,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may introduce additional processing overhead.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transaction volume can lead to higher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time and storage requirements.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require careful design to ensure secure and reliable transaction processing.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cryptographic keys may prevent users from recovering encrypted transaction data.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is currently implemented and tested in a controlled/local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B27E5EB-AC18-517A-7C87-E3A1045CF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764" y="1546583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135" y="2524477"/>
            <a:ext cx="984991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advanced privacy-preserving cryptographic techniques for stronger transaction confidentiality.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public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 instead of a local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hardware-based secure key storage for improved key protection.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multi-factor or biometric authentication for secure transaction access.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encryption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to improve system performance and scalability.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of the system to support secure cross-chain cryptocurrency transactions.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5C510C6-C06E-9F5B-BC95-5FF5849B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09" y="1235076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80529"/>
            <a:ext cx="109728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privacy-preserving cryptocurrency transactions using encrypted smart contracts.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encryption and key management protect sensitive transaction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smart contracts enable confidential transaction processing.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and storage maintain data integrity and trust.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decryption provides controlled access to transaction information.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privacy while preserving decentralization and security.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27FAF5D-42BB-E14E-9F87-9C766246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0"/>
            <a:ext cx="11998037" cy="133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58329"/>
            <a:ext cx="10972800" cy="114300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197EA16-C9A5-EF16-66F2-A62F6698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-39756"/>
            <a:ext cx="11998037" cy="1143000"/>
          </a:xfrm>
          <a:prstGeom prst="rect">
            <a:avLst/>
          </a:prstGeom>
        </p:spPr>
      </p:pic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341313" y="2116657"/>
            <a:ext cx="1158564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Chang, Y., Luan, T.H., Zheng, J., Li, Y. and Su, Z., 2026.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Privacy-Preserving and Verifiable Vehicular Energy Trading via Smart Contracts. IEEE Internet of Things Journal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Prabaharan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Subramanian, S.,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Kaviyaraj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Grace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Pandiaraj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2025. Privacy-Preserving and Secure Smart Contracts: Cryptographic Protocols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Transactions. In Quantum Protocols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(pp. 325-345). Singapore: Springer Nature Singapore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Park, K., Das, A.K. and Park, Y., 2025. BAPS-DITS: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-enabled accountable privacy-preserving scheme for decentralized intelligent transportation systems. IEEE Transactions on Intelligent Transportation Systems, 26(5), pp.6749-6763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Al-Rasheed, A., Ali, H., Khan, R. and Saeed, A., 2025.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smart contracts: An effective approach for the transaction security &amp; privacy in electronic medical records. Computers, Materials &amp; Continua, 85(2), pp.3419-3436.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197EA16-C9A5-EF16-66F2-A62F6698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2" y="-39756"/>
            <a:ext cx="11998037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1052" y="2842591"/>
            <a:ext cx="9939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2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4304</TotalTime>
  <Words>886</Words>
  <Application>Microsoft Office PowerPoint</Application>
  <PresentationFormat>Widescreen</PresentationFormat>
  <Paragraphs>131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Privacy-Preserving Cryptocurrency Transactions using Encrypted Smart Contracts</vt:lpstr>
      <vt:lpstr>INTRODUCTION</vt:lpstr>
      <vt:lpstr>OBJECTIVES</vt:lpstr>
      <vt:lpstr>LITERATURE REVIEW </vt:lpstr>
      <vt:lpstr>ARCHITECTURE</vt:lpstr>
      <vt:lpstr>METHODOLOGY</vt:lpstr>
      <vt:lpstr>MODULES</vt:lpstr>
      <vt:lpstr>Module 1:Secure Transaction Encryption &amp; Key Management  </vt:lpstr>
      <vt:lpstr>PowerPoint Presentation</vt:lpstr>
      <vt:lpstr>MODULE 1 IMPLEMENTATION</vt:lpstr>
      <vt:lpstr>PowerPoint Presentation</vt:lpstr>
      <vt:lpstr>Module 2:Blockchain-Based Encrypted Transaction Processing </vt:lpstr>
      <vt:lpstr>PowerPoint Presentation</vt:lpstr>
      <vt:lpstr>MODULE 2 IMPLEMENTATION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SRI SAI TECH</cp:lastModifiedBy>
  <cp:revision>139</cp:revision>
  <dcterms:created xsi:type="dcterms:W3CDTF">2013-01-27T09:14:16Z</dcterms:created>
  <dcterms:modified xsi:type="dcterms:W3CDTF">2026-09-04T03:28:27Z</dcterms:modified>
  <cp:category/>
</cp:coreProperties>
</file>